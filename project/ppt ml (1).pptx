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FCFFFE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 panose="020B0604020202020204"/>
              </a:rPr>
              <a:t>Random Forest vs Logistic Regression</a:t>
            </a:r>
            <a:endParaRPr sz="1400" b="0" i="0" u="none" strike="noStrike">
              <a:solidFill>
                <a:srgbClr val="FFFF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4BC33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0.3567</c:v>
                </c:pt>
                <c:pt idx="1">
                  <c:v>0.3532</c:v>
                </c:pt>
                <c:pt idx="2">
                  <c:v>0.355</c:v>
                </c:pt>
                <c:pt idx="3">
                  <c:v>0.3519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6E86B5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0.3533</c:v>
                </c:pt>
                <c:pt idx="1">
                  <c:v>0.3547</c:v>
                </c:pt>
                <c:pt idx="2">
                  <c:v>0.3506</c:v>
                </c:pt>
                <c:pt idx="3">
                  <c:v>0.342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2A3B5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B1E3A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40f958e-e474-448d-a938-1eeea6bfee00}"/>
      </c:ext>
    </c:extLst>
  </c:chart>
  <c:spPr>
    <a:solidFill>
      <a:srgbClr val="0B1E3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4BC33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Time of Day</c:v>
                </c:pt>
                <c:pt idx="1">
                  <c:v>Speed Limit</c:v>
                </c:pt>
                <c:pt idx="2">
                  <c:v>Driver Age</c:v>
                </c:pt>
                <c:pt idx="3">
                  <c:v>State Name</c:v>
                </c:pt>
                <c:pt idx="4">
                  <c:v>Month</c:v>
                </c:pt>
                <c:pt idx="5">
                  <c:v>Number of Casualties</c:v>
                </c:pt>
                <c:pt idx="6">
                  <c:v>Vehicle Type</c:v>
                </c:pt>
                <c:pt idx="7">
                  <c:v>Day of Week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0.1076</c:v>
                </c:pt>
                <c:pt idx="1">
                  <c:v>0.0969</c:v>
                </c:pt>
                <c:pt idx="2">
                  <c:v>0.0908</c:v>
                </c:pt>
                <c:pt idx="3">
                  <c:v>0.0836</c:v>
                </c:pt>
                <c:pt idx="4">
                  <c:v>0.067</c:v>
                </c:pt>
                <c:pt idx="5">
                  <c:v>0.0628</c:v>
                </c:pt>
                <c:pt idx="6">
                  <c:v>0.0513</c:v>
                </c:pt>
                <c:pt idx="7">
                  <c:v>0.0508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2A3B5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B1E3A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6fa58e7-22d9-4528-a2bc-790971bbd895}"/>
      </c:ext>
    </c:extLst>
  </c:chart>
  <c:spPr>
    <a:solidFill>
      <a:srgbClr val="0B1E3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ver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PROJECT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 Hotspot Prediction Using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and Logistic Regression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data-driven approach to predicting road-accident risk and supporting proactive traffic-safety decisions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5486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P. Thanvitha — 2520030385
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N. Tejasri — 2520030132
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Guide: Jyothsna Datti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19050">
            <a:solidFill>
              <a:srgbClr val="F4BC33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4389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Road accidents cause loss of life, injuries, and major economic damage — predicting risk areas helps authorities act early.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supervised algorithms — Random Forest and Logistic Regression — analyze weather, road, traffic, and vehicle factors.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captures complex, non-linear relationships; Logistic Regression gives an interpretable probability estimate.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Workflow: data collection → preprocessing → feature selection → training → prediction → evaluation.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Accuracy, precision, recall and F1-score compare model performance; results are visualized for easy interpretation.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Goal: support traffic police, transport departments and urban planners with data-driven, proactive safety planning.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Rising vehicle numbers, poor road conditions, weather, and human error drive road accidents.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analysis of large accident datasets is slow and doesn't scale.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Authorities need a systematic way to flag high-risk conditions before accidents happen.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classification models that predict accident-severity risk from historical data.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an ensemble method (Random Forest) against a linear baseline (Logistic Regression).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Surface the conditions — weather, time, road type — most linked to severe accidents.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 findings through clear visual analytics for non-technical stakeholders.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 WORK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Review —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Papers Reviewed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26898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9+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26898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Random Forest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GIS / Spatial Clustering (DBSCAN, KDE)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70966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70966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Deep Learning (CNN, LSTM, MLP)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0881360" cy="0"/>
          </a:xfrm>
          <a:prstGeom prst="line">
            <a:avLst/>
          </a:prstGeom>
          <a:noFill/>
          <a:ln w="12700">
            <a:solidFill>
              <a:srgbClr val="2A3B5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Themes Across the Literature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08813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is the most common ensemble choice for accident and crash-severity prediction.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Spatial methods (DBSCAN, KDE, Moran's I) locate hotspots; ML models then predict severity or risk.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SMOTE and similar resampling handle class imbalance in fatal/severe accident categories.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studies are region-specific (one city/province), limiting generalization to new areas.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 WORK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Review — Representative Papers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645920"/>
          <a:ext cx="10881360" cy="265176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834640"/>
                <a:gridCol w="2651760"/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Author(s)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3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Sancar &amp; Oztas (2026)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Fatal accidents, Erzurum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Random Forest + SMOTE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Predicts fatality, not location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Ha Le Thi et al. (2025)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Accidents, Thanh Hoa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Random Forest + GIS mapping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Single province, short period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Gupta, Varun &amp; Srinivasa (2022)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UK hotspot + severity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KDE + Random Forest + SMOTE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Proof-of-concept, one country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Atif Ali Khan &amp; Hussain (2024)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Urban traffic, Faisalabad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Moran's I + Random Forest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Decision Tree outperformed RF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Rusmin Saragih et al. (2026)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Spatiotemporal risk, Medan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Hybrid CNN-LSTM vs RF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High compute &amp; data needs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108813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gap
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prior work targets one region, one outcome (fatality OR location), or needs heavy spatial/GPS data. This project directly compares an ensemble (Random Forest) against an interpretable baseline (Logistic Regression) on a multi-state accident dataset — balancing accuracy with explainability.</a:t>
            </a:r>
            <a:endParaRPr lang="en-US" sz="1500" dirty="0"/>
          </a:p>
        </p:txBody>
      </p:sp>
      <p:sp>
        <p:nvSpPr>
          <p:cNvPr id="4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3,000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 Records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26898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26898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 / Columns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2018–2023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Years Covered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70966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70966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 Classes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0881360" cy="0"/>
          </a:xfrm>
          <a:prstGeom prst="line">
            <a:avLst/>
          </a:prstGeom>
          <a:noFill/>
          <a:ln w="12700">
            <a:solidFill>
              <a:srgbClr val="2A3B5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About This Dataset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08813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record captures a single accident with its full context: when and where it happened, how severe it was, and the conditions surrounding it.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Records are drawn from multiple states and cities, giving the models a genuinely multi-region view rather than one city's traffic patterns.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four feature groups — Location &amp; Time, Accident Details, Environment, and Driver &amp; Vehicle — are detailed on the next slide.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 — Feature Groups Captured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Location &amp; Time / Accident Details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and when the accident occurred, and the direct outcome recorded.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State, City, Year, Month, Day of Week, Time of Day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Severity, Vehicles Involved, Casualties, Fatalities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Environment / Driver &amp; Vehicle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0312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Conditions on the road and who was involved at the time of the accident.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743200"/>
            <a:ext cx="539496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Weather, Road Type, Road Condition, Lighting, Speed Limit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Vehicle Type, Driver Age, Gender, License Status, Alcohol Involvement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Together these 22 columns feed both models — categorical fields are label-encoded, and the target (Accident Severity) is derived from the Severity column.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Quality &amp; Preprocessing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Quality Check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duplicate rows found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1,691 missing values overall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716 missing: Traffic Control Presence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975 missing: Driver License Status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Preprocessing Steps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Fill missing categorical values (Traffic Control, License Status) with an explicit 'Unknown' category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Label-encode categorical features (weather, road type, gender, etc.) for model compatibility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 the target — Accident Severity — into Fatal / Minor / Serious classes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Split into 80% training and 20% testing sets, stratified by severity class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Random Forest and Logistic Regression on identical train/test splits for fair comparison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System — Workflow Stages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Collection &amp; Preparation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Collection — gather 3,000 historical accident records across states and years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Preprocessing — fill missing values and label-encode categorical fields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 Selection — retain the location, environment, and driver/vehicle fields most relevant to severity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Train/Test Split — 80% training, 20% testing, stratified by severity class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Modeling &amp; Evaluation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Training — fit Random Forest and Logistic Regression on the same training split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— generate severity predictions (Fatal / Serious / Minor) on the held-out test set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Evaluation — compare both models using Accuracy, Precision, Recall and F1-Score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&amp; Precision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often the model's predictions can be trusted overall and per class.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— overall share of correct predictions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 — of predicted-positive cases, how many were correct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&amp; F1-Score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0312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completely the model finds real cases, balanced against precision.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743200"/>
            <a:ext cx="539496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— of actual-positive cases, how many were found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F1-Score — harmonic balance of precision and recall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four metrics are computed on the same held-out 20% test split for both models, so the comparison on the Results slide is fully apples-to-apples.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Algorithm — Random Forest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ensemble of many decision trees, each trained on a random subset of data and features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tree 'votes' on the predicted severity class; the majority vote becomes the final prediction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Captures non-linear relationships and feature interactions a single tree or linear model would miss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Provides a feature-importance ranking, showing which factors most influence accident severity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Robust to noisy or partially irrelevant features, well-suited to real-world accident data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This Project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 decision trees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max tree depth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Target: Accident Severity (Fatal / Serious / Minor)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scikit-learn RandomForestClassifier, stratified 80/20 split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Algorithm — Logistic Regression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linear model that estimates the probability of each severity class from the input features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 a softmax/logistic function to convert a weighted sum of features into class probabilities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Coefficients are directly interpretable — larger weight means stronger influence on the outcome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 to train and easy to explain to non-technical stakeholders such as traffic authorities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as the transparent baseline that Random Forest's ensemble approach is measured against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This Project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2,000 max iterations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L-BFGS solver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80/20 stratified split as Random Forest, for a fair comparison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scikit-learn LogisticRegression (multinomial)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Severity &amp; Geographic Spread</a:t>
            </a:r>
            <a:endParaRPr lang="en-US" sz="3000" dirty="0"/>
          </a:p>
        </p:txBody>
      </p:sp>
      <p:pic>
        <p:nvPicPr>
          <p:cNvPr id="4" name="Image 0" descr="ima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91640"/>
            <a:ext cx="521208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 severity distribution</a:t>
            </a:r>
            <a:endParaRPr lang="en-US" sz="1300" dirty="0"/>
          </a:p>
        </p:txBody>
      </p:sp>
      <p:pic>
        <p:nvPicPr>
          <p:cNvPr id="6" name="Image 1" descr="ima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states by accident count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 classes are nearly balanced (Minor 1,034 · Fatal 985 · Serious 981), avoiding heavy class-imbalance bias. Goa, Sikkim, Delhi and Uttarakhand report the highest counts.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Temporal Patterns</a:t>
            </a:r>
            <a:endParaRPr lang="en-US" sz="3000" dirty="0"/>
          </a:p>
        </p:txBody>
      </p:sp>
      <p:pic>
        <p:nvPicPr>
          <p:cNvPr id="4" name="Image 0" descr="image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91640"/>
            <a:ext cx="521208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Accidents by year (2018–2023)</a:t>
            </a:r>
            <a:endParaRPr lang="en-US" sz="1300" dirty="0"/>
          </a:p>
        </p:txBody>
      </p:sp>
      <p:pic>
        <p:nvPicPr>
          <p:cNvPr id="6" name="Image 1" descr="image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Accidents by hour of day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 counts stay broadly stable year over year (~470–525/year), with no single dominant hour — risk is spread across the day rather than concentrated in rush hour alone.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Weather &amp; Road Conditions</a:t>
            </a:r>
            <a:endParaRPr lang="en-US" sz="3000" dirty="0"/>
          </a:p>
        </p:txBody>
      </p:sp>
      <p:pic>
        <p:nvPicPr>
          <p:cNvPr id="4" name="Image 0" descr="image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91640"/>
            <a:ext cx="521208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Weather conditions at accident time</a:t>
            </a:r>
            <a:endParaRPr lang="en-US" sz="1300" dirty="0"/>
          </a:p>
        </p:txBody>
      </p:sp>
      <p:pic>
        <p:nvPicPr>
          <p:cNvPr id="6" name="Image 1" descr="image6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Road condition at accident time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Rainy (631), Stormy (611) and Hazy (608) conditions account for the largest shares of recorded accidents — adverse weather is a recurring theme across the dataset.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Driver &amp; Vehicle Factors</a:t>
            </a:r>
            <a:endParaRPr lang="en-US" sz="3000" dirty="0"/>
          </a:p>
        </p:txBody>
      </p:sp>
      <p:pic>
        <p:nvPicPr>
          <p:cNvPr id="4" name="Image 0" descr="image7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91640"/>
            <a:ext cx="521208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Driver age distribution</a:t>
            </a:r>
            <a:endParaRPr lang="en-US" sz="1300" dirty="0"/>
          </a:p>
        </p:txBody>
      </p:sp>
      <p:pic>
        <p:nvPicPr>
          <p:cNvPr id="6" name="Image 1" descr="image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Alcohol involvement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Driver age spans the full working-age range with no single peak group. Alcohol was recorded as involved in 1,520 of 3,000 accidents (~51%) — a near-even split worth flagging for enforcement focus.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What Relates to Severity</a:t>
            </a:r>
            <a:endParaRPr lang="en-US" sz="3000" dirty="0"/>
          </a:p>
        </p:txBody>
      </p:sp>
      <p:pic>
        <p:nvPicPr>
          <p:cNvPr id="4" name="Image 0" descr="image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91640"/>
            <a:ext cx="521208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 by weather condition</a:t>
            </a:r>
            <a:endParaRPr lang="en-US" sz="1300" dirty="0"/>
          </a:p>
        </p:txBody>
      </p:sp>
      <p:pic>
        <p:nvPicPr>
          <p:cNvPr id="6" name="Image 1" descr="image1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 by alcohol involvement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Cross-tabulating severity against weather and alcohol involvement is the step that directly informs which features the models should weight most heavily.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Numeric Correlation Heatmap</a:t>
            </a:r>
            <a:endParaRPr lang="en-US" sz="3000" dirty="0"/>
          </a:p>
        </p:txBody>
      </p:sp>
      <p:pic>
        <p:nvPicPr>
          <p:cNvPr id="4" name="Image 0" descr="image1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00200"/>
            <a:ext cx="603504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874520"/>
            <a:ext cx="475488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Correlations among numeric fields (vehicles involved, casualties, fatalities, speed limit, driver age) are generally weak — confirming that severity depends more on categorical context (weather, road, alcohol) than on numeric values alone.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_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Evaluation Results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52360" y="17373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Reading the result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2148840"/>
            <a:ext cx="40233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edges out Logistic Regression (~35.7% vs ~35.3% accuracy), but both sit close to the 33% three-class baseline.
</a:t>
            </a: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Takeaway: </a:t>
            </a: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recorded features carry only a weak signal for severity — the models agree more than they disagree, pointing to a data/feature-engineering limitation rather than an algorithm weakness.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_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 Importance — Random Forest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52360" y="17373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drivers of severity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2148840"/>
            <a:ext cx="40233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 of day and speed limit top the ranking — both are directly actionable for traffic enforcement and speed-zone policy.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Driver age and state follow closely, suggesting demographic and regional targeting could sharpen future models.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WRAP-UP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 &amp; 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4389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 classes are well-balanced (Minor / Fatal / Serious), so no resampling was required for this dataset.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slightly outperformed Logistic Regression, confirming ensembles handle these mixed feature types marginally better.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 of day, speed limit, driver age and state are the strongest predictors of accident severity.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Overall accuracy (~35%) shows the current feature set only weakly explains severity — a realistic, honestly-reported result.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Weather (rain, storms, haze) and alcohol involvement (~51% of cases) stand out as high-impact, policy-actionable factors.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comparative workflow itself is reusable: it generalizes to other cities/states once richer location and behavioral data is added.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→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real-time weather and traffic-density feeds for live risk scoring</a:t>
            </a:r>
            <a:endParaRPr lang="en-US" sz="17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→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Engineer richer spatial features (GPS coordinates, road-segment IDs) for true hotspot mapping</a:t>
            </a:r>
            <a:endParaRPr lang="en-US" sz="17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→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deep-learning approaches (CNN-LSTM) on a larger, multi-year dataset</a:t>
            </a:r>
            <a:endParaRPr lang="en-US" sz="17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→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 as a Flask/Streamlit dashboard for traffic authorities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10881360" cy="0"/>
          </a:xfrm>
          <a:prstGeom prst="line">
            <a:avLst/>
          </a:prstGeom>
          <a:noFill/>
          <a:ln w="12700">
            <a:solidFill>
              <a:srgbClr val="2A3B5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574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Thank You</a:t>
            </a:r>
            <a:endParaRPr sz="4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Accident Hotspot Prediction Using Random Forest and Logistic Regression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11038</Words>
  <Application>WPS Presentation</Application>
  <PresentationFormat>On-screen Show (16:9)</PresentationFormat>
  <Paragraphs>397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NALLA TEJASRI</cp:lastModifiedBy>
  <cp:revision>2</cp:revision>
  <dcterms:created xsi:type="dcterms:W3CDTF">2026-09-23T03:01:00Z</dcterms:created>
  <dcterms:modified xsi:type="dcterms:W3CDTF">2026-09-23T04:10:36Z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2B2284F8EDF5404B898606FA95EB2E2B_12</vt:lpwstr>
  </property>
  <property fmtid="{D5CDD505-2E9C-101B-9397-08002B2CF9AE}" pid="3" name="KSOProductBuildVer">
    <vt:lpwstr>1033-12.1.0.28485</vt:lpwstr>
  </property>
</Properties>
</file>